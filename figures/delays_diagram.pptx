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5560338" cy="19188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7" autoAdjust="0"/>
    <p:restoredTop sz="94660"/>
  </p:normalViewPr>
  <p:slideViewPr>
    <p:cSldViewPr snapToGrid="0">
      <p:cViewPr>
        <p:scale>
          <a:sx n="66" d="100"/>
          <a:sy n="66" d="100"/>
        </p:scale>
        <p:origin x="-900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7026" y="3140278"/>
            <a:ext cx="21726287" cy="6680306"/>
          </a:xfrm>
        </p:spPr>
        <p:txBody>
          <a:bodyPr anchor="b"/>
          <a:lstStyle>
            <a:lvl1pPr algn="ctr">
              <a:defRPr sz="1677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5042" y="10078203"/>
            <a:ext cx="19170254" cy="4632684"/>
          </a:xfrm>
        </p:spPr>
        <p:txBody>
          <a:bodyPr/>
          <a:lstStyle>
            <a:lvl1pPr marL="0" indent="0" algn="ctr">
              <a:buNone/>
              <a:defRPr sz="6709"/>
            </a:lvl1pPr>
            <a:lvl2pPr marL="1278011" indent="0" algn="ctr">
              <a:buNone/>
              <a:defRPr sz="5591"/>
            </a:lvl2pPr>
            <a:lvl3pPr marL="2556022" indent="0" algn="ctr">
              <a:buNone/>
              <a:defRPr sz="5032"/>
            </a:lvl3pPr>
            <a:lvl4pPr marL="3834033" indent="0" algn="ctr">
              <a:buNone/>
              <a:defRPr sz="4472"/>
            </a:lvl4pPr>
            <a:lvl5pPr marL="5112045" indent="0" algn="ctr">
              <a:buNone/>
              <a:defRPr sz="4472"/>
            </a:lvl5pPr>
            <a:lvl6pPr marL="6390056" indent="0" algn="ctr">
              <a:buNone/>
              <a:defRPr sz="4472"/>
            </a:lvl6pPr>
            <a:lvl7pPr marL="7668067" indent="0" algn="ctr">
              <a:buNone/>
              <a:defRPr sz="4472"/>
            </a:lvl7pPr>
            <a:lvl8pPr marL="8946078" indent="0" algn="ctr">
              <a:buNone/>
              <a:defRPr sz="4472"/>
            </a:lvl8pPr>
            <a:lvl9pPr marL="10224089" indent="0" algn="ctr">
              <a:buNone/>
              <a:defRPr sz="447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0792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3084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3962" y="4783709"/>
            <a:ext cx="22045792" cy="7981721"/>
          </a:xfrm>
        </p:spPr>
        <p:txBody>
          <a:bodyPr anchor="b"/>
          <a:lstStyle>
            <a:lvl1pPr>
              <a:defRPr sz="1677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3962" y="12840940"/>
            <a:ext cx="22045792" cy="4197398"/>
          </a:xfrm>
        </p:spPr>
        <p:txBody>
          <a:bodyPr/>
          <a:lstStyle>
            <a:lvl1pPr marL="0" indent="0">
              <a:buNone/>
              <a:defRPr sz="6709">
                <a:solidFill>
                  <a:schemeClr val="tx1"/>
                </a:solidFill>
              </a:defRPr>
            </a:lvl1pPr>
            <a:lvl2pPr marL="1278011" indent="0">
              <a:buNone/>
              <a:defRPr sz="5591">
                <a:solidFill>
                  <a:schemeClr val="tx1">
                    <a:tint val="75000"/>
                  </a:schemeClr>
                </a:solidFill>
              </a:defRPr>
            </a:lvl2pPr>
            <a:lvl3pPr marL="2556022" indent="0">
              <a:buNone/>
              <a:defRPr sz="5032">
                <a:solidFill>
                  <a:schemeClr val="tx1">
                    <a:tint val="75000"/>
                  </a:schemeClr>
                </a:solidFill>
              </a:defRPr>
            </a:lvl3pPr>
            <a:lvl4pPr marL="3834033" indent="0">
              <a:buNone/>
              <a:defRPr sz="4472">
                <a:solidFill>
                  <a:schemeClr val="tx1">
                    <a:tint val="75000"/>
                  </a:schemeClr>
                </a:solidFill>
              </a:defRPr>
            </a:lvl4pPr>
            <a:lvl5pPr marL="5112045" indent="0">
              <a:buNone/>
              <a:defRPr sz="4472">
                <a:solidFill>
                  <a:schemeClr val="tx1">
                    <a:tint val="75000"/>
                  </a:schemeClr>
                </a:solidFill>
              </a:defRPr>
            </a:lvl5pPr>
            <a:lvl6pPr marL="6390056" indent="0">
              <a:buNone/>
              <a:defRPr sz="4472">
                <a:solidFill>
                  <a:schemeClr val="tx1">
                    <a:tint val="75000"/>
                  </a:schemeClr>
                </a:solidFill>
              </a:defRPr>
            </a:lvl6pPr>
            <a:lvl7pPr marL="7668067" indent="0">
              <a:buNone/>
              <a:defRPr sz="4472">
                <a:solidFill>
                  <a:schemeClr val="tx1">
                    <a:tint val="75000"/>
                  </a:schemeClr>
                </a:solidFill>
              </a:defRPr>
            </a:lvl7pPr>
            <a:lvl8pPr marL="8946078" indent="0">
              <a:buNone/>
              <a:defRPr sz="4472">
                <a:solidFill>
                  <a:schemeClr val="tx1">
                    <a:tint val="75000"/>
                  </a:schemeClr>
                </a:solidFill>
              </a:defRPr>
            </a:lvl8pPr>
            <a:lvl9pPr marL="10224089" indent="0">
              <a:buNone/>
              <a:defRPr sz="44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350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7273" y="5107947"/>
            <a:ext cx="10863144" cy="121746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9921" y="5107947"/>
            <a:ext cx="10863144" cy="121746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6263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602" y="1021593"/>
            <a:ext cx="22045792" cy="370881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0605" y="4703754"/>
            <a:ext cx="10813219" cy="2305237"/>
          </a:xfrm>
        </p:spPr>
        <p:txBody>
          <a:bodyPr anchor="b"/>
          <a:lstStyle>
            <a:lvl1pPr marL="0" indent="0">
              <a:buNone/>
              <a:defRPr sz="6709" b="1"/>
            </a:lvl1pPr>
            <a:lvl2pPr marL="1278011" indent="0">
              <a:buNone/>
              <a:defRPr sz="5591" b="1"/>
            </a:lvl2pPr>
            <a:lvl3pPr marL="2556022" indent="0">
              <a:buNone/>
              <a:defRPr sz="5032" b="1"/>
            </a:lvl3pPr>
            <a:lvl4pPr marL="3834033" indent="0">
              <a:buNone/>
              <a:defRPr sz="4472" b="1"/>
            </a:lvl4pPr>
            <a:lvl5pPr marL="5112045" indent="0">
              <a:buNone/>
              <a:defRPr sz="4472" b="1"/>
            </a:lvl5pPr>
            <a:lvl6pPr marL="6390056" indent="0">
              <a:buNone/>
              <a:defRPr sz="4472" b="1"/>
            </a:lvl6pPr>
            <a:lvl7pPr marL="7668067" indent="0">
              <a:buNone/>
              <a:defRPr sz="4472" b="1"/>
            </a:lvl7pPr>
            <a:lvl8pPr marL="8946078" indent="0">
              <a:buNone/>
              <a:defRPr sz="4472" b="1"/>
            </a:lvl8pPr>
            <a:lvl9pPr marL="10224089" indent="0">
              <a:buNone/>
              <a:defRPr sz="447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0605" y="7008991"/>
            <a:ext cx="10813219" cy="1030917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939922" y="4703754"/>
            <a:ext cx="10866473" cy="2305237"/>
          </a:xfrm>
        </p:spPr>
        <p:txBody>
          <a:bodyPr anchor="b"/>
          <a:lstStyle>
            <a:lvl1pPr marL="0" indent="0">
              <a:buNone/>
              <a:defRPr sz="6709" b="1"/>
            </a:lvl1pPr>
            <a:lvl2pPr marL="1278011" indent="0">
              <a:buNone/>
              <a:defRPr sz="5591" b="1"/>
            </a:lvl2pPr>
            <a:lvl3pPr marL="2556022" indent="0">
              <a:buNone/>
              <a:defRPr sz="5032" b="1"/>
            </a:lvl3pPr>
            <a:lvl4pPr marL="3834033" indent="0">
              <a:buNone/>
              <a:defRPr sz="4472" b="1"/>
            </a:lvl4pPr>
            <a:lvl5pPr marL="5112045" indent="0">
              <a:buNone/>
              <a:defRPr sz="4472" b="1"/>
            </a:lvl5pPr>
            <a:lvl6pPr marL="6390056" indent="0">
              <a:buNone/>
              <a:defRPr sz="4472" b="1"/>
            </a:lvl6pPr>
            <a:lvl7pPr marL="7668067" indent="0">
              <a:buNone/>
              <a:defRPr sz="4472" b="1"/>
            </a:lvl7pPr>
            <a:lvl8pPr marL="8946078" indent="0">
              <a:buNone/>
              <a:defRPr sz="4472" b="1"/>
            </a:lvl8pPr>
            <a:lvl9pPr marL="10224089" indent="0">
              <a:buNone/>
              <a:defRPr sz="447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939922" y="7008991"/>
            <a:ext cx="10866473" cy="1030917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793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194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446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603" y="1279208"/>
            <a:ext cx="8243874" cy="4477226"/>
          </a:xfrm>
        </p:spPr>
        <p:txBody>
          <a:bodyPr anchor="b"/>
          <a:lstStyle>
            <a:lvl1pPr>
              <a:defRPr sz="894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66473" y="2762737"/>
            <a:ext cx="12939921" cy="13635997"/>
          </a:xfrm>
        </p:spPr>
        <p:txBody>
          <a:bodyPr/>
          <a:lstStyle>
            <a:lvl1pPr>
              <a:defRPr sz="8945"/>
            </a:lvl1pPr>
            <a:lvl2pPr>
              <a:defRPr sz="7827"/>
            </a:lvl2pPr>
            <a:lvl3pPr>
              <a:defRPr sz="6709"/>
            </a:lvl3pPr>
            <a:lvl4pPr>
              <a:defRPr sz="5591"/>
            </a:lvl4pPr>
            <a:lvl5pPr>
              <a:defRPr sz="5591"/>
            </a:lvl5pPr>
            <a:lvl6pPr>
              <a:defRPr sz="5591"/>
            </a:lvl6pPr>
            <a:lvl7pPr>
              <a:defRPr sz="5591"/>
            </a:lvl7pPr>
            <a:lvl8pPr>
              <a:defRPr sz="5591"/>
            </a:lvl8pPr>
            <a:lvl9pPr>
              <a:defRPr sz="5591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0603" y="5756434"/>
            <a:ext cx="8243874" cy="10664506"/>
          </a:xfrm>
        </p:spPr>
        <p:txBody>
          <a:bodyPr/>
          <a:lstStyle>
            <a:lvl1pPr marL="0" indent="0">
              <a:buNone/>
              <a:defRPr sz="4472"/>
            </a:lvl1pPr>
            <a:lvl2pPr marL="1278011" indent="0">
              <a:buNone/>
              <a:defRPr sz="3913"/>
            </a:lvl2pPr>
            <a:lvl3pPr marL="2556022" indent="0">
              <a:buNone/>
              <a:defRPr sz="3354"/>
            </a:lvl3pPr>
            <a:lvl4pPr marL="3834033" indent="0">
              <a:buNone/>
              <a:defRPr sz="2795"/>
            </a:lvl4pPr>
            <a:lvl5pPr marL="5112045" indent="0">
              <a:buNone/>
              <a:defRPr sz="2795"/>
            </a:lvl5pPr>
            <a:lvl6pPr marL="6390056" indent="0">
              <a:buNone/>
              <a:defRPr sz="2795"/>
            </a:lvl6pPr>
            <a:lvl7pPr marL="7668067" indent="0">
              <a:buNone/>
              <a:defRPr sz="2795"/>
            </a:lvl7pPr>
            <a:lvl8pPr marL="8946078" indent="0">
              <a:buNone/>
              <a:defRPr sz="2795"/>
            </a:lvl8pPr>
            <a:lvl9pPr marL="10224089" indent="0">
              <a:buNone/>
              <a:defRPr sz="279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3466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603" y="1279208"/>
            <a:ext cx="8243874" cy="4477226"/>
          </a:xfrm>
        </p:spPr>
        <p:txBody>
          <a:bodyPr anchor="b"/>
          <a:lstStyle>
            <a:lvl1pPr>
              <a:defRPr sz="894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66473" y="2762737"/>
            <a:ext cx="12939921" cy="13635997"/>
          </a:xfrm>
        </p:spPr>
        <p:txBody>
          <a:bodyPr anchor="t"/>
          <a:lstStyle>
            <a:lvl1pPr marL="0" indent="0">
              <a:buNone/>
              <a:defRPr sz="8945"/>
            </a:lvl1pPr>
            <a:lvl2pPr marL="1278011" indent="0">
              <a:buNone/>
              <a:defRPr sz="7827"/>
            </a:lvl2pPr>
            <a:lvl3pPr marL="2556022" indent="0">
              <a:buNone/>
              <a:defRPr sz="6709"/>
            </a:lvl3pPr>
            <a:lvl4pPr marL="3834033" indent="0">
              <a:buNone/>
              <a:defRPr sz="5591"/>
            </a:lvl4pPr>
            <a:lvl5pPr marL="5112045" indent="0">
              <a:buNone/>
              <a:defRPr sz="5591"/>
            </a:lvl5pPr>
            <a:lvl6pPr marL="6390056" indent="0">
              <a:buNone/>
              <a:defRPr sz="5591"/>
            </a:lvl6pPr>
            <a:lvl7pPr marL="7668067" indent="0">
              <a:buNone/>
              <a:defRPr sz="5591"/>
            </a:lvl7pPr>
            <a:lvl8pPr marL="8946078" indent="0">
              <a:buNone/>
              <a:defRPr sz="5591"/>
            </a:lvl8pPr>
            <a:lvl9pPr marL="10224089" indent="0">
              <a:buNone/>
              <a:defRPr sz="5591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0603" y="5756434"/>
            <a:ext cx="8243874" cy="10664506"/>
          </a:xfrm>
        </p:spPr>
        <p:txBody>
          <a:bodyPr/>
          <a:lstStyle>
            <a:lvl1pPr marL="0" indent="0">
              <a:buNone/>
              <a:defRPr sz="4472"/>
            </a:lvl1pPr>
            <a:lvl2pPr marL="1278011" indent="0">
              <a:buNone/>
              <a:defRPr sz="3913"/>
            </a:lvl2pPr>
            <a:lvl3pPr marL="2556022" indent="0">
              <a:buNone/>
              <a:defRPr sz="3354"/>
            </a:lvl3pPr>
            <a:lvl4pPr marL="3834033" indent="0">
              <a:buNone/>
              <a:defRPr sz="2795"/>
            </a:lvl4pPr>
            <a:lvl5pPr marL="5112045" indent="0">
              <a:buNone/>
              <a:defRPr sz="2795"/>
            </a:lvl5pPr>
            <a:lvl6pPr marL="6390056" indent="0">
              <a:buNone/>
              <a:defRPr sz="2795"/>
            </a:lvl6pPr>
            <a:lvl7pPr marL="7668067" indent="0">
              <a:buNone/>
              <a:defRPr sz="2795"/>
            </a:lvl7pPr>
            <a:lvl8pPr marL="8946078" indent="0">
              <a:buNone/>
              <a:defRPr sz="2795"/>
            </a:lvl8pPr>
            <a:lvl9pPr marL="10224089" indent="0">
              <a:buNone/>
              <a:defRPr sz="279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9586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1353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91618" y="1021589"/>
            <a:ext cx="5511448" cy="162610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57275" y="1021589"/>
            <a:ext cx="16214839" cy="162610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4821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57273" y="1021593"/>
            <a:ext cx="22045792" cy="3708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7273" y="5107947"/>
            <a:ext cx="22045792" cy="1217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57273" y="17784542"/>
            <a:ext cx="5751076" cy="1021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0ED0B-10D0-4F92-819F-D54C7D9ED2FE}" type="datetimeFigureOut">
              <a:rPr lang="en-NZ" smtClean="0"/>
              <a:t>24/04/2026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66862" y="17784542"/>
            <a:ext cx="8626614" cy="1021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51989" y="17784542"/>
            <a:ext cx="5751076" cy="1021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32AA4-2B65-4D9B-BF42-0EEE25B068B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5122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556022" rtl="0" eaLnBrk="1" latinLnBrk="0" hangingPunct="1">
        <a:lnSpc>
          <a:spcPct val="90000"/>
        </a:lnSpc>
        <a:spcBef>
          <a:spcPct val="0"/>
        </a:spcBef>
        <a:buNone/>
        <a:defRPr sz="12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9006" indent="-639006" algn="l" defTabSz="2556022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7827" kern="1200">
          <a:solidFill>
            <a:schemeClr val="tx1"/>
          </a:solidFill>
          <a:latin typeface="+mn-lt"/>
          <a:ea typeface="+mn-ea"/>
          <a:cs typeface="+mn-cs"/>
        </a:defRPr>
      </a:lvl1pPr>
      <a:lvl2pPr marL="1917017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6709" kern="1200">
          <a:solidFill>
            <a:schemeClr val="tx1"/>
          </a:solidFill>
          <a:latin typeface="+mn-lt"/>
          <a:ea typeface="+mn-ea"/>
          <a:cs typeface="+mn-cs"/>
        </a:defRPr>
      </a:lvl2pPr>
      <a:lvl3pPr marL="3195028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591" kern="1200">
          <a:solidFill>
            <a:schemeClr val="tx1"/>
          </a:solidFill>
          <a:latin typeface="+mn-lt"/>
          <a:ea typeface="+mn-ea"/>
          <a:cs typeface="+mn-cs"/>
        </a:defRPr>
      </a:lvl3pPr>
      <a:lvl4pPr marL="4473039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032" kern="1200">
          <a:solidFill>
            <a:schemeClr val="tx1"/>
          </a:solidFill>
          <a:latin typeface="+mn-lt"/>
          <a:ea typeface="+mn-ea"/>
          <a:cs typeface="+mn-cs"/>
        </a:defRPr>
      </a:lvl4pPr>
      <a:lvl5pPr marL="5751050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032" kern="1200">
          <a:solidFill>
            <a:schemeClr val="tx1"/>
          </a:solidFill>
          <a:latin typeface="+mn-lt"/>
          <a:ea typeface="+mn-ea"/>
          <a:cs typeface="+mn-cs"/>
        </a:defRPr>
      </a:lvl5pPr>
      <a:lvl6pPr marL="7029061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032" kern="1200">
          <a:solidFill>
            <a:schemeClr val="tx1"/>
          </a:solidFill>
          <a:latin typeface="+mn-lt"/>
          <a:ea typeface="+mn-ea"/>
          <a:cs typeface="+mn-cs"/>
        </a:defRPr>
      </a:lvl6pPr>
      <a:lvl7pPr marL="8307073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032" kern="1200">
          <a:solidFill>
            <a:schemeClr val="tx1"/>
          </a:solidFill>
          <a:latin typeface="+mn-lt"/>
          <a:ea typeface="+mn-ea"/>
          <a:cs typeface="+mn-cs"/>
        </a:defRPr>
      </a:lvl7pPr>
      <a:lvl8pPr marL="9585084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032" kern="1200">
          <a:solidFill>
            <a:schemeClr val="tx1"/>
          </a:solidFill>
          <a:latin typeface="+mn-lt"/>
          <a:ea typeface="+mn-ea"/>
          <a:cs typeface="+mn-cs"/>
        </a:defRPr>
      </a:lvl8pPr>
      <a:lvl9pPr marL="10863095" indent="-639006" algn="l" defTabSz="2556022" rtl="0" eaLnBrk="1" latinLnBrk="0" hangingPunct="1">
        <a:lnSpc>
          <a:spcPct val="90000"/>
        </a:lnSpc>
        <a:spcBef>
          <a:spcPts val="1398"/>
        </a:spcBef>
        <a:buFont typeface="Arial" panose="020B0604020202020204" pitchFamily="34" charset="0"/>
        <a:buChar char="•"/>
        <a:defRPr sz="50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1pPr>
      <a:lvl2pPr marL="1278011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2pPr>
      <a:lvl3pPr marL="2556022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3pPr>
      <a:lvl4pPr marL="3834033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4pPr>
      <a:lvl5pPr marL="5112045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5pPr>
      <a:lvl6pPr marL="6390056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6pPr>
      <a:lvl7pPr marL="7668067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7pPr>
      <a:lvl8pPr marL="8946078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8pPr>
      <a:lvl9pPr marL="10224089" algn="l" defTabSz="2556022" rtl="0" eaLnBrk="1" latinLnBrk="0" hangingPunct="1">
        <a:defRPr sz="5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Straight Connector 102"/>
          <p:cNvCxnSpPr/>
          <p:nvPr/>
        </p:nvCxnSpPr>
        <p:spPr>
          <a:xfrm>
            <a:off x="5068454" y="2501752"/>
            <a:ext cx="0" cy="34352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8258224" y="3991195"/>
            <a:ext cx="0" cy="290180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9268317" y="2501752"/>
            <a:ext cx="0" cy="34352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11437364" y="3991195"/>
            <a:ext cx="0" cy="290180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5153511" y="3991195"/>
            <a:ext cx="4040375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089720" y="5936954"/>
            <a:ext cx="3125972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8298977" y="5936954"/>
            <a:ext cx="3085222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9328566" y="3991195"/>
            <a:ext cx="2108792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885079" y="5965825"/>
            <a:ext cx="1595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Generation interval</a:t>
            </a:r>
            <a:endParaRPr lang="en-NZ" dirty="0"/>
          </a:p>
        </p:txBody>
      </p:sp>
      <p:sp>
        <p:nvSpPr>
          <p:cNvPr id="112" name="TextBox 111"/>
          <p:cNvSpPr txBox="1"/>
          <p:nvPr/>
        </p:nvSpPr>
        <p:spPr>
          <a:xfrm>
            <a:off x="8599918" y="5965825"/>
            <a:ext cx="2515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Incubation period (secondary case)</a:t>
            </a:r>
            <a:endParaRPr lang="en-NZ" dirty="0"/>
          </a:p>
        </p:txBody>
      </p:sp>
      <p:sp>
        <p:nvSpPr>
          <p:cNvPr id="113" name="TextBox 112"/>
          <p:cNvSpPr txBox="1"/>
          <p:nvPr/>
        </p:nvSpPr>
        <p:spPr>
          <a:xfrm>
            <a:off x="5936581" y="4006407"/>
            <a:ext cx="2183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Incubation period (primary case)</a:t>
            </a:r>
            <a:endParaRPr lang="en-NZ" dirty="0"/>
          </a:p>
        </p:txBody>
      </p:sp>
      <p:sp>
        <p:nvSpPr>
          <p:cNvPr id="114" name="TextBox 113"/>
          <p:cNvSpPr txBox="1"/>
          <p:nvPr/>
        </p:nvSpPr>
        <p:spPr>
          <a:xfrm>
            <a:off x="9760738" y="4006407"/>
            <a:ext cx="1244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Serial interval</a:t>
            </a:r>
            <a:endParaRPr lang="en-NZ" dirty="0"/>
          </a:p>
        </p:txBody>
      </p:sp>
      <p:sp>
        <p:nvSpPr>
          <p:cNvPr id="115" name="TextBox 114"/>
          <p:cNvSpPr txBox="1"/>
          <p:nvPr/>
        </p:nvSpPr>
        <p:spPr>
          <a:xfrm>
            <a:off x="4249988" y="1764802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Primary case infected</a:t>
            </a:r>
            <a:endParaRPr lang="en-NZ" dirty="0"/>
          </a:p>
        </p:txBody>
      </p:sp>
      <p:sp>
        <p:nvSpPr>
          <p:cNvPr id="116" name="TextBox 115"/>
          <p:cNvSpPr txBox="1"/>
          <p:nvPr/>
        </p:nvSpPr>
        <p:spPr>
          <a:xfrm>
            <a:off x="8449851" y="1764802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Primary case symptom onset</a:t>
            </a:r>
            <a:endParaRPr lang="en-NZ" dirty="0"/>
          </a:p>
        </p:txBody>
      </p:sp>
      <p:sp>
        <p:nvSpPr>
          <p:cNvPr id="117" name="TextBox 116"/>
          <p:cNvSpPr txBox="1"/>
          <p:nvPr/>
        </p:nvSpPr>
        <p:spPr>
          <a:xfrm>
            <a:off x="7480511" y="6855740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Secondary case infected</a:t>
            </a:r>
            <a:endParaRPr lang="en-NZ" dirty="0"/>
          </a:p>
        </p:txBody>
      </p:sp>
      <p:sp>
        <p:nvSpPr>
          <p:cNvPr id="118" name="TextBox 117"/>
          <p:cNvSpPr txBox="1"/>
          <p:nvPr/>
        </p:nvSpPr>
        <p:spPr>
          <a:xfrm>
            <a:off x="10616234" y="6855740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Secondary case symptom onset</a:t>
            </a:r>
            <a:endParaRPr lang="en-NZ" dirty="0"/>
          </a:p>
        </p:txBody>
      </p:sp>
      <p:pic>
        <p:nvPicPr>
          <p:cNvPr id="119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447" y="3097210"/>
            <a:ext cx="682184" cy="682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897" y="5001983"/>
            <a:ext cx="682184" cy="682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063" y="4983567"/>
            <a:ext cx="357963" cy="357963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436" y="2885409"/>
            <a:ext cx="464288" cy="464288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902" y="5001983"/>
            <a:ext cx="682184" cy="682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6847" y="4788637"/>
            <a:ext cx="464288" cy="464288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002" y="3097210"/>
            <a:ext cx="682184" cy="682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92" y="3080339"/>
            <a:ext cx="357963" cy="357963"/>
          </a:xfrm>
          <a:prstGeom prst="rect">
            <a:avLst/>
          </a:prstGeom>
        </p:spPr>
      </p:pic>
      <p:cxnSp>
        <p:nvCxnSpPr>
          <p:cNvPr id="127" name="Straight Connector 126"/>
          <p:cNvCxnSpPr/>
          <p:nvPr/>
        </p:nvCxnSpPr>
        <p:spPr>
          <a:xfrm>
            <a:off x="19220279" y="2501752"/>
            <a:ext cx="0" cy="34352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Freeform 127"/>
          <p:cNvSpPr/>
          <p:nvPr/>
        </p:nvSpPr>
        <p:spPr>
          <a:xfrm>
            <a:off x="18848284" y="2800350"/>
            <a:ext cx="766762" cy="1042988"/>
          </a:xfrm>
          <a:custGeom>
            <a:avLst/>
            <a:gdLst>
              <a:gd name="connsiteX0" fmla="*/ 0 w 766762"/>
              <a:gd name="connsiteY0" fmla="*/ 1042988 h 1042988"/>
              <a:gd name="connsiteX1" fmla="*/ 766762 w 766762"/>
              <a:gd name="connsiteY1" fmla="*/ 1042988 h 1042988"/>
              <a:gd name="connsiteX2" fmla="*/ 766762 w 766762"/>
              <a:gd name="connsiteY2" fmla="*/ 280988 h 1042988"/>
              <a:gd name="connsiteX3" fmla="*/ 371475 w 766762"/>
              <a:gd name="connsiteY3" fmla="*/ 0 h 1042988"/>
              <a:gd name="connsiteX4" fmla="*/ 0 w 766762"/>
              <a:gd name="connsiteY4" fmla="*/ 278606 h 1042988"/>
              <a:gd name="connsiteX5" fmla="*/ 0 w 766762"/>
              <a:gd name="connsiteY5" fmla="*/ 1042988 h 104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6762" h="1042988">
                <a:moveTo>
                  <a:pt x="0" y="1042988"/>
                </a:moveTo>
                <a:lnTo>
                  <a:pt x="766762" y="1042988"/>
                </a:lnTo>
                <a:lnTo>
                  <a:pt x="766762" y="280988"/>
                </a:lnTo>
                <a:lnTo>
                  <a:pt x="371475" y="0"/>
                </a:lnTo>
                <a:lnTo>
                  <a:pt x="0" y="278606"/>
                </a:lnTo>
                <a:lnTo>
                  <a:pt x="0" y="104298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9" name="Straight Connector 128"/>
          <p:cNvCxnSpPr/>
          <p:nvPr/>
        </p:nvCxnSpPr>
        <p:spPr>
          <a:xfrm>
            <a:off x="14637959" y="2501752"/>
            <a:ext cx="0" cy="34352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17827729" y="3991195"/>
            <a:ext cx="0" cy="290180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21006869" y="3991195"/>
            <a:ext cx="0" cy="290180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14723016" y="3991195"/>
            <a:ext cx="4403874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14659225" y="5936954"/>
            <a:ext cx="3125972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17868482" y="5936954"/>
            <a:ext cx="3085222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19288815" y="3991195"/>
            <a:ext cx="1664889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TextBox 135"/>
              <p:cNvSpPr txBox="1"/>
              <p:nvPr/>
            </p:nvSpPr>
            <p:spPr>
              <a:xfrm>
                <a:off x="15251032" y="5965825"/>
                <a:ext cx="2002536" cy="668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Z" dirty="0" smtClean="0"/>
                  <a:t>Generation interval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NZ" dirty="0"/>
              </a:p>
            </p:txBody>
          </p:sp>
        </mc:Choice>
        <mc:Fallback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1032" y="5965825"/>
                <a:ext cx="2002536" cy="668901"/>
              </a:xfrm>
              <a:prstGeom prst="rect">
                <a:avLst/>
              </a:prstGeom>
              <a:blipFill>
                <a:blip r:embed="rId5"/>
                <a:stretch>
                  <a:fillRect l="-2744" t="-5505" r="-4268" b="-367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/>
              <p:cNvSpPr txBox="1"/>
              <p:nvPr/>
            </p:nvSpPr>
            <p:spPr>
              <a:xfrm>
                <a:off x="18211660" y="5965825"/>
                <a:ext cx="2515232" cy="1221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Z" b="0" dirty="0" smtClean="0"/>
                  <a:t>Time to tracing (secondary case)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𝑖𝑠𝑜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NZ" dirty="0" smtClean="0"/>
              </a:p>
              <a:p>
                <a:pPr algn="ctr"/>
                <a:endParaRPr lang="en-NZ" dirty="0"/>
              </a:p>
            </p:txBody>
          </p:sp>
        </mc:Choice>
        <mc:Fallback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1660" y="5965825"/>
                <a:ext cx="2515232" cy="1221745"/>
              </a:xfrm>
              <a:prstGeom prst="rect">
                <a:avLst/>
              </a:prstGeom>
              <a:blipFill>
                <a:blip r:embed="rId6"/>
                <a:stretch>
                  <a:fillRect t="-3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/>
              <p:cNvSpPr txBox="1"/>
              <p:nvPr/>
            </p:nvSpPr>
            <p:spPr>
              <a:xfrm>
                <a:off x="15745884" y="4006407"/>
                <a:ext cx="2183138" cy="93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Z" b="0" dirty="0" smtClean="0"/>
                  <a:t>Time to isolation (primary case)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𝑖𝑠𝑜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NZ" b="0" dirty="0" smtClean="0"/>
              </a:p>
            </p:txBody>
          </p:sp>
        </mc:Choice>
        <mc:Fallback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5884" y="4006407"/>
                <a:ext cx="2183138" cy="935513"/>
              </a:xfrm>
              <a:prstGeom prst="rect">
                <a:avLst/>
              </a:prstGeom>
              <a:blipFill>
                <a:blip r:embed="rId7"/>
                <a:stretch>
                  <a:fillRect t="-324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/>
              <p:cNvSpPr txBox="1"/>
              <p:nvPr/>
            </p:nvSpPr>
            <p:spPr>
              <a:xfrm>
                <a:off x="19796637" y="4006407"/>
                <a:ext cx="8108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𝑡𝑟𝑎𝑐𝑒</m:t>
                          </m:r>
                        </m:sub>
                      </m:sSub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637" y="4006407"/>
                <a:ext cx="81086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TextBox 139"/>
          <p:cNvSpPr txBox="1"/>
          <p:nvPr/>
        </p:nvSpPr>
        <p:spPr>
          <a:xfrm>
            <a:off x="13819493" y="1764802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Primary case infected</a:t>
            </a:r>
            <a:endParaRPr lang="en-NZ" dirty="0"/>
          </a:p>
        </p:txBody>
      </p:sp>
      <p:sp>
        <p:nvSpPr>
          <p:cNvPr id="141" name="TextBox 140"/>
          <p:cNvSpPr txBox="1"/>
          <p:nvPr/>
        </p:nvSpPr>
        <p:spPr>
          <a:xfrm>
            <a:off x="18401813" y="1764802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Primary case isolated</a:t>
            </a:r>
            <a:endParaRPr lang="en-NZ" dirty="0"/>
          </a:p>
        </p:txBody>
      </p:sp>
      <p:sp>
        <p:nvSpPr>
          <p:cNvPr id="142" name="TextBox 141"/>
          <p:cNvSpPr txBox="1"/>
          <p:nvPr/>
        </p:nvSpPr>
        <p:spPr>
          <a:xfrm>
            <a:off x="17050016" y="6855740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Secondary case infected</a:t>
            </a:r>
            <a:endParaRPr lang="en-NZ" dirty="0"/>
          </a:p>
        </p:txBody>
      </p:sp>
      <p:sp>
        <p:nvSpPr>
          <p:cNvPr id="143" name="TextBox 142"/>
          <p:cNvSpPr txBox="1"/>
          <p:nvPr/>
        </p:nvSpPr>
        <p:spPr>
          <a:xfrm>
            <a:off x="20185739" y="6855740"/>
            <a:ext cx="1636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smtClean="0"/>
              <a:t>Secondary case traced</a:t>
            </a:r>
            <a:endParaRPr lang="en-NZ" dirty="0"/>
          </a:p>
        </p:txBody>
      </p:sp>
      <p:pic>
        <p:nvPicPr>
          <p:cNvPr id="144" name="Picture 1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528" y="3097210"/>
            <a:ext cx="682184" cy="682184"/>
          </a:xfrm>
          <a:prstGeom prst="rect">
            <a:avLst/>
          </a:prstGeom>
        </p:spPr>
      </p:pic>
      <p:pic>
        <p:nvPicPr>
          <p:cNvPr id="145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839" y="3097210"/>
            <a:ext cx="682184" cy="682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6" name="Picture 1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797" y="3080339"/>
            <a:ext cx="357963" cy="357963"/>
          </a:xfrm>
          <a:prstGeom prst="rect">
            <a:avLst/>
          </a:prstGeom>
        </p:spPr>
      </p:pic>
      <p:pic>
        <p:nvPicPr>
          <p:cNvPr id="147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5402" y="5001983"/>
            <a:ext cx="682184" cy="68218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8" name="Picture 1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3568" y="4983567"/>
            <a:ext cx="357963" cy="357963"/>
          </a:xfrm>
          <a:prstGeom prst="rect">
            <a:avLst/>
          </a:prstGeom>
        </p:spPr>
      </p:pic>
      <p:sp>
        <p:nvSpPr>
          <p:cNvPr id="149" name="Freeform 148"/>
          <p:cNvSpPr/>
          <p:nvPr/>
        </p:nvSpPr>
        <p:spPr>
          <a:xfrm>
            <a:off x="20634118" y="4688483"/>
            <a:ext cx="766762" cy="1042988"/>
          </a:xfrm>
          <a:custGeom>
            <a:avLst/>
            <a:gdLst>
              <a:gd name="connsiteX0" fmla="*/ 0 w 766762"/>
              <a:gd name="connsiteY0" fmla="*/ 1042988 h 1042988"/>
              <a:gd name="connsiteX1" fmla="*/ 766762 w 766762"/>
              <a:gd name="connsiteY1" fmla="*/ 1042988 h 1042988"/>
              <a:gd name="connsiteX2" fmla="*/ 766762 w 766762"/>
              <a:gd name="connsiteY2" fmla="*/ 280988 h 1042988"/>
              <a:gd name="connsiteX3" fmla="*/ 371475 w 766762"/>
              <a:gd name="connsiteY3" fmla="*/ 0 h 1042988"/>
              <a:gd name="connsiteX4" fmla="*/ 0 w 766762"/>
              <a:gd name="connsiteY4" fmla="*/ 278606 h 1042988"/>
              <a:gd name="connsiteX5" fmla="*/ 0 w 766762"/>
              <a:gd name="connsiteY5" fmla="*/ 1042988 h 104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6762" h="1042988">
                <a:moveTo>
                  <a:pt x="0" y="1042988"/>
                </a:moveTo>
                <a:lnTo>
                  <a:pt x="766762" y="1042988"/>
                </a:lnTo>
                <a:lnTo>
                  <a:pt x="766762" y="280988"/>
                </a:lnTo>
                <a:lnTo>
                  <a:pt x="371475" y="0"/>
                </a:lnTo>
                <a:lnTo>
                  <a:pt x="0" y="278606"/>
                </a:lnTo>
                <a:lnTo>
                  <a:pt x="0" y="104298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50" name="Picture 1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362" y="4985343"/>
            <a:ext cx="682184" cy="682184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7901550" y="7841727"/>
            <a:ext cx="63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dirty="0" smtClean="0"/>
              <a:t>(a)</a:t>
            </a:r>
            <a:endParaRPr lang="en-NZ" sz="3200" dirty="0"/>
          </a:p>
        </p:txBody>
      </p:sp>
      <p:sp>
        <p:nvSpPr>
          <p:cNvPr id="152" name="TextBox 151"/>
          <p:cNvSpPr txBox="1"/>
          <p:nvPr/>
        </p:nvSpPr>
        <p:spPr>
          <a:xfrm>
            <a:off x="17552530" y="7841727"/>
            <a:ext cx="651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dirty="0" smtClean="0"/>
              <a:t>(b)</a:t>
            </a:r>
            <a:endParaRPr lang="en-NZ" sz="3200" dirty="0"/>
          </a:p>
        </p:txBody>
      </p:sp>
    </p:spTree>
    <p:extLst>
      <p:ext uri="{BB962C8B-B14F-4D97-AF65-F5344CB8AC3E}">
        <p14:creationId xmlns:p14="http://schemas.microsoft.com/office/powerpoint/2010/main" val="3429819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94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michael.plank@canterbury.ac.nz</dc:creator>
  <cp:lastModifiedBy>michael.plank@canterbury.ac.nz</cp:lastModifiedBy>
  <cp:revision>7</cp:revision>
  <dcterms:created xsi:type="dcterms:W3CDTF">2026-04-24T02:41:45Z</dcterms:created>
  <dcterms:modified xsi:type="dcterms:W3CDTF">2026-04-24T03:45:35Z</dcterms:modified>
</cp:coreProperties>
</file>